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BBAB44-BB62-476C-B15F-5C24CFC27C06}">
  <a:tblStyle styleId="{9BBBAB44-BB62-476C-B15F-5C24CFC27C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3fc4fdf3d_0_1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3fc4fdf3d_0_1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3fc4fdf3d_0_19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3fc4fdf3d_0_1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3fc4fdf3d_0_2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3fc4fdf3d_0_2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3fc4fdf3d_0_2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3fc4fdf3d_0_2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3fc4fdf3d_0_2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3fc4fdf3d_0_2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3fc4fdf3d_0_2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3fc4fdf3d_0_2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3fc4fdf3d_0_2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3fc4fdf3d_0_2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3fc4fdf3d_0_2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3fc4fdf3d_0_2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3fc4fdf3d_0_2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3fc4fdf3d_0_2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3fc4fdf3d_0_2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3fc4fdf3d_0_2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3fc4fdf3d_0_2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3fc4fdf3d_0_2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3fc4fdf3d_0_2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3fc4fdf3d_0_2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3fc4fdf3d_0_20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3fc4fdf3d_0_2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3fc4fdf3d_0_2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3fc4fdf3d_0_2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2150" y="214300"/>
            <a:ext cx="9059700" cy="16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4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Evolution of Cryptography: </a:t>
            </a:r>
            <a:endParaRPr b="1" sz="44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 Overview of Classical Ciphers</a:t>
            </a:r>
            <a:endParaRPr sz="4400">
              <a:highlight>
                <a:schemeClr val="lt1"/>
              </a:highlight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4275875"/>
            <a:ext cx="9144000" cy="6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 sz="23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Christopher Gonzalez, Joseph Ipanaque, Isaia Jimenez, Daniel Minton</a:t>
            </a:r>
            <a:endParaRPr b="1" sz="23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33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Member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Introductions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61050" y="839525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 u="sng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Christopher Gonzalez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 Developed/implemented Caesar &amp; Columnar Transposition Ciphers in C++, research on encryption/decryption techniques.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61050" y="1777200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 u="sng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Joseph Ipanaque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 Developed/implemented ROT13 &amp; XOR cipher algorithms in C++, research on encryption/decryption techniques.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61050" y="2876825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 u="sng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Isaia Jimenez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 Developed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/implemented Atbash &amp; Affine cipher algorithms in C++, research on encryption/decryption techniques.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61050" y="3976450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 u="sng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Daniel Minton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- Developed/implemented Rail Fence &amp; Vigenère cipher algorithms in C++, research on encryption/decryption techniques.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Idea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61050" y="839525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Secure Communication System that demonstrates classical encryption methods through a C++ menu-based program.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61050" y="1777200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Showcase the evolution of cryptography by including simple ciphers like Atbash and Caesar, up to more complex ones like Vigenère and XOR.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61050" y="2876825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Help users understand how encryption has transformed from basic letter substitutions to operations involving modular arithmetic and bitwise logic.</a:t>
            </a:r>
            <a:b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61050" y="3976450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an educational tool that visually and interactively demonstrates how each cipher works — great for learning or teaching cybersecurity basics.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Done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61050" y="839525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researching to identify eight distinct encryption and decryption ciphers, it was discovered that many were built off the techniques of predecessors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61050" y="1777200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was performed on ciphers from the earliest days of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concept, to ciphers implemented alongside modern computing capabilities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61050" y="2714875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C++ was the programming language of choice due to familiarity from previous cryptography applications, and was cemented as the right choice with its 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excellent memory handling capabilities and object-oriented nature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61050" y="3941000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6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multitude of cipher and programming resources were used to understand the underlying theory of each cipher, to include TutorialsPoint and GeeksforGeeks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443550" y="267900"/>
            <a:ext cx="82569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Developed</a:t>
            </a:r>
            <a:b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Used for Each Cipher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majority of the ciphers are written as a separate function (e.g., </a:t>
            </a: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atbashCipher()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encryptDecrypt()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XOR).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modular approach keeps the code clean, reusable, and easy to debug.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Menu System with Switch Statement</a:t>
            </a:r>
            <a:b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main menu loop lets users select a cipher (1–8, with option 9 serving as a random option and 10 to end the session).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statement runs the correct code block based on the user’s choice. Each case handles its own inputs, outputs, and logic for encryption/decryption.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Validation &amp; Exception Handling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used  </a:t>
            </a: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cin.fail()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cin.clear()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cin.ignore()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prevent program crashes.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is repeatedly requested until the user enters valid data.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ensures the program is user-friendly and resistant to bad inputs.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Libraries Included</a:t>
            </a:r>
            <a:b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&lt;iostream&gt;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handles input and output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&lt;string&gt;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manages user text input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&lt;limits&gt;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enables safe input validation</a:t>
            </a:r>
            <a:b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&lt;bits/stdc++.h&gt;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provides advanced functions like </a:t>
            </a: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transform()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memset()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complex cipher logic.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Demo (With Supporting Visuals)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Atbash Cipher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Plaintext: ATBASH CIPHER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Transformation: Alphabet is reversed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Ciphertext: 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ZGYZHS XRKSVI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" name="Google Shape;93;p18" title="0_m53hOZj-zZ-Ufq8u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2776" y="922875"/>
            <a:ext cx="3688600" cy="36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Caesar Cipher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Plaintext: CAESAR CIPHER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Shift: 3 spaces to the right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Ciphertext: 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FDHVDU FLSKHU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19" title="Screenshot 2025-05-03 at 2.51.4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871079">
            <a:off x="4459615" y="1016863"/>
            <a:ext cx="3261472" cy="3109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Rail Fence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Cipher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Plaintext: RAIL FENCE CIPHER (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spaces also included for encryption/decryption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Rails: 3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Ciphertext: 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 CIRALFNECPEIE H</a:t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2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3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5" name="Google Shape;105;p20"/>
          <p:cNvGraphicFramePr/>
          <p:nvPr/>
        </p:nvGraphicFramePr>
        <p:xfrm>
          <a:off x="952475" y="277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{9BBBAB44-BB62-476C-B15F-5C24CFC27C06}</a:tableStyleId>
              </a:tblPr>
              <a:tblGrid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  <a:gridCol w="425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20"/>
          <p:cNvSpPr/>
          <p:nvPr/>
        </p:nvSpPr>
        <p:spPr>
          <a:xfrm>
            <a:off x="1628975" y="2396100"/>
            <a:ext cx="5761800" cy="35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Columnar Transposition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Cipher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Plaintext: CTC_CIPHER (Underscores are used to represent spaces/padding)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Keyword: KEY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Ciphertext: 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TCH_C_PRCIE_ 	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2			   1			        3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			 			       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12" name="Google Shape;112;p21"/>
          <p:cNvGraphicFramePr/>
          <p:nvPr/>
        </p:nvGraphicFramePr>
        <p:xfrm>
          <a:off x="3297100" y="2065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{9BBBAB44-BB62-476C-B15F-5C24CFC27C06}</a:tableStyleId>
              </a:tblPr>
              <a:tblGrid>
                <a:gridCol w="1621400"/>
                <a:gridCol w="1621400"/>
                <a:gridCol w="1621400"/>
              </a:tblGrid>
              <a:tr h="449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4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2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_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Vigenère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Cipher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Plaintext: VIGENERE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Key: OUI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Ciphertext: 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JCOSHMFY</a:t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22" title="Screenshot 2025-05-03 at 1.49.1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9485330">
            <a:off x="2977501" y="643787"/>
            <a:ext cx="1722600" cy="169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2" title="Screenshot 2025-05-03 at 1.49.3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516858">
            <a:off x="4771913" y="572468"/>
            <a:ext cx="1750901" cy="1763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 title="Screenshot 2025-05-03 at 1.49.48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7015340">
            <a:off x="6720147" y="566055"/>
            <a:ext cx="1759155" cy="177656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22"/>
          <p:cNvGraphicFramePr/>
          <p:nvPr/>
        </p:nvGraphicFramePr>
        <p:xfrm>
          <a:off x="1085350" y="251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{9BBBAB44-BB62-476C-B15F-5C24CFC27C06}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</a:t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sz="18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8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endParaRPr b="1" sz="18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b="1" sz="18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b="1" sz="18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b="1" sz="18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R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b="1" sz="18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762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b="1" sz="18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2" name="Google Shape;122;p22"/>
          <p:cNvSpPr/>
          <p:nvPr/>
        </p:nvSpPr>
        <p:spPr>
          <a:xfrm>
            <a:off x="1379075" y="3962825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2255350" y="3962813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5018175" y="3962825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/>
          <p:nvPr/>
        </p:nvSpPr>
        <p:spPr>
          <a:xfrm>
            <a:off x="5916500" y="3962825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2"/>
          <p:cNvSpPr/>
          <p:nvPr/>
        </p:nvSpPr>
        <p:spPr>
          <a:xfrm>
            <a:off x="6814825" y="3962825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7713150" y="3962813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3198625" y="3962813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4141900" y="3962813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354000" y="267900"/>
            <a:ext cx="85098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Affine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Cipher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Plaintext: AFFINE CIPHER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Keys: a = 5, b = 8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rgbClr val="20CAC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Encryption: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= (aM + b) mod 26; M is the numerical position of plaintext character.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Decryption: M = (a⁻¹ * (C - b)) mod 26; C is the ciphertext numerical value.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Ciphertext: 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IHHWVC SWFRCP</a:t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5" name="Google Shape;135;p23"/>
          <p:cNvGraphicFramePr/>
          <p:nvPr/>
        </p:nvGraphicFramePr>
        <p:xfrm>
          <a:off x="952475" y="258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{9BBBAB44-BB62-476C-B15F-5C24CFC27C06}</a:tableStyleId>
              </a:tblPr>
              <a:tblGrid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  <a:gridCol w="556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(13)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(15)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(17)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(8)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(7)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(21)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(18)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(22)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(17)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(15)</a:t>
                      </a:r>
                      <a:endParaRPr b="1"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endParaRPr b="1" sz="1700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36" name="Google Shape;136;p23"/>
          <p:cNvSpPr/>
          <p:nvPr/>
        </p:nvSpPr>
        <p:spPr>
          <a:xfrm>
            <a:off x="1080938" y="3532025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1602788" y="3506988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2159263" y="3532025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2715738" y="3532025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/>
          <p:nvPr/>
        </p:nvSpPr>
        <p:spPr>
          <a:xfrm>
            <a:off x="3306913" y="3507000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3"/>
          <p:cNvSpPr/>
          <p:nvPr/>
        </p:nvSpPr>
        <p:spPr>
          <a:xfrm>
            <a:off x="3851863" y="3506988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/>
          <p:nvPr/>
        </p:nvSpPr>
        <p:spPr>
          <a:xfrm>
            <a:off x="4956738" y="3507000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3"/>
          <p:cNvSpPr/>
          <p:nvPr/>
        </p:nvSpPr>
        <p:spPr>
          <a:xfrm>
            <a:off x="5532888" y="3507000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/>
          <p:nvPr/>
        </p:nvSpPr>
        <p:spPr>
          <a:xfrm>
            <a:off x="6061613" y="3506988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6590338" y="3532013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7174600" y="3532013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/>
          <p:nvPr/>
        </p:nvSpPr>
        <p:spPr>
          <a:xfrm>
            <a:off x="7758863" y="3532013"/>
            <a:ext cx="304200" cy="314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0CAC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ROT13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Cipher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Plaintext: ROTTHRTN CIPHER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Shift: 13 spaces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Ciphertext: 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EBGGUEGA PVCURE</a:t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24" title="Screenshot 2025-05-03 at 2.52.0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99349">
            <a:off x="4270984" y="783654"/>
            <a:ext cx="3793733" cy="3576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XOR</a:t>
            </a: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Cipher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Plaintext: XOR				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Key: t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(binary)     </a:t>
            </a:r>
            <a:r>
              <a:rPr b="1" lang="en" sz="1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01011000						 </a:t>
            </a:r>
            <a:r>
              <a:rPr b="1" lang="en" sz="18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800">
              <a:solidFill>
                <a:srgbClr val="2125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(binary)       </a:t>
            </a:r>
            <a:r>
              <a:rPr b="1" lang="en" sz="1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01110100</a:t>
            </a:r>
            <a:endParaRPr b="1" sz="1800">
              <a:solidFill>
                <a:srgbClr val="2125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" sz="1800">
                <a:solidFill>
                  <a:srgbClr val="212529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00101100</a:t>
            </a:r>
            <a:r>
              <a:rPr b="1" lang="en" sz="18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			  </a:t>
            </a:r>
            <a:endParaRPr b="1" sz="1800">
              <a:solidFill>
                <a:srgbClr val="21252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Ciphertext = </a:t>
            </a:r>
            <a:r>
              <a:rPr b="1" lang="en" sz="18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,;&amp;</a:t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59" name="Google Shape;159;p25"/>
          <p:cNvGraphicFramePr/>
          <p:nvPr/>
        </p:nvGraphicFramePr>
        <p:xfrm>
          <a:off x="952500" y="304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{9BBBAB44-BB62-476C-B15F-5C24CFC27C06}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⊕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⊕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⊕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</a:t>
                      </a:r>
                      <a:endParaRPr b="1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;</a:t>
                      </a:r>
                      <a:endParaRPr b="1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&amp;</a:t>
                      </a:r>
                      <a:endParaRPr b="1">
                        <a:highlight>
                          <a:srgbClr val="FFFF00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60" name="Google Shape;160;p25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2775" y="484900"/>
            <a:ext cx="2221650" cy="18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2964375" y="1338650"/>
            <a:ext cx="3365400" cy="114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00101100 = </a:t>
            </a:r>
            <a:r>
              <a:rPr b="1" lang="en" sz="1800">
                <a:solidFill>
                  <a:srgbClr val="212529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lang="en" sz="18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800">
              <a:solidFill>
                <a:srgbClr val="2125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1252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12529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Note: The XOR Cipher can result in unprintable characters. </a:t>
            </a:r>
            <a:r>
              <a:rPr b="1" lang="en" sz="1800">
                <a:solidFill>
                  <a:srgbClr val="212529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1482525" y="1818650"/>
            <a:ext cx="206100" cy="18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⊕ 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3" name="Google Shape;163;p25"/>
          <p:cNvCxnSpPr/>
          <p:nvPr/>
        </p:nvCxnSpPr>
        <p:spPr>
          <a:xfrm flipH="1" rot="10800000">
            <a:off x="1576200" y="2169200"/>
            <a:ext cx="11049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5"/>
          <p:cNvSpPr/>
          <p:nvPr/>
        </p:nvSpPr>
        <p:spPr>
          <a:xfrm>
            <a:off x="2689377" y="1731525"/>
            <a:ext cx="289218" cy="565641"/>
          </a:xfrm>
          <a:custGeom>
            <a:rect b="b" l="l" r="r" t="t"/>
            <a:pathLst>
              <a:path extrusionOk="0" h="20580" w="10011">
                <a:moveTo>
                  <a:pt x="0" y="20580"/>
                </a:moveTo>
                <a:cubicBezTo>
                  <a:pt x="6823" y="17168"/>
                  <a:pt x="7601" y="7238"/>
                  <a:pt x="10011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65" name="Google Shape;165;p25"/>
          <p:cNvCxnSpPr/>
          <p:nvPr/>
        </p:nvCxnSpPr>
        <p:spPr>
          <a:xfrm flipH="1" rot="-10026602">
            <a:off x="2809350" y="1710934"/>
            <a:ext cx="160033" cy="124955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5"/>
          <p:cNvCxnSpPr/>
          <p:nvPr/>
        </p:nvCxnSpPr>
        <p:spPr>
          <a:xfrm rot="-10025122">
            <a:off x="2962806" y="1736169"/>
            <a:ext cx="96645" cy="15974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Lessons Learned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361050" y="839525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Early ciphers are 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susceptible</a:t>
            </a: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to brute-force attacks. Later cryptographic techniques began to rely on more complex algorithms and longer keys. 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361050" y="1777200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These ciphers exhibited predictable patterns. A strong cipher should produce output that is unpredictable and indistinguishable from random data.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361050" y="2876825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As human intelligence and technological tools advance, there will never be a cryptographic technique can be definitively considered as "unbreakable".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361050" y="3976450"/>
            <a:ext cx="8421900" cy="7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63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It's important for people to learn from the weaknesses of early cryptographic techniques in order to develop stronger, more resilient security systems.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354000" y="267900"/>
            <a:ext cx="8436000" cy="460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You.</a:t>
            </a:r>
            <a:endParaRPr b="1" sz="9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